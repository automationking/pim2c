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image" Target="../media/image-8-3.png"/><Relationship Id="rId8" Type="http://schemas.openxmlformats.org/officeDocument/2006/relationships/image" Target="../media/image-8-4.svg"/><Relationship Id="rId9" Type="http://schemas.openxmlformats.org/officeDocument/2006/relationships/image" Target="../media/image-8-3.png"/><Relationship Id="rId10" Type="http://schemas.openxmlformats.org/officeDocument/2006/relationships/image" Target="../media/image-8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9.png"/><Relationship Id="rId12" Type="http://schemas.openxmlformats.org/officeDocument/2006/relationships/image" Target="../media/image-10-10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3.png"/><Relationship Id="rId16" Type="http://schemas.openxmlformats.org/officeDocument/2006/relationships/image" Target="../media/image-10-14.svg"/><Relationship Id="rId17" Type="http://schemas.openxmlformats.org/officeDocument/2006/relationships/image" Target="../media/image-10-13.png"/><Relationship Id="rId18" Type="http://schemas.openxmlformats.org/officeDocument/2006/relationships/image" Target="../media/image-10-14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image" Target="../media/image-13-1.png"/><Relationship Id="rId8" Type="http://schemas.openxmlformats.org/officeDocument/2006/relationships/image" Target="../media/image-13-2.svg"/><Relationship Id="rId9" Type="http://schemas.openxmlformats.org/officeDocument/2006/relationships/image" Target="../media/image-13-1.png"/><Relationship Id="rId10" Type="http://schemas.openxmlformats.org/officeDocument/2006/relationships/image" Target="../media/image-13-2.svg"/><Relationship Id="rId11" Type="http://schemas.openxmlformats.org/officeDocument/2006/relationships/image" Target="../media/image-13-1.png"/><Relationship Id="rId12" Type="http://schemas.openxmlformats.org/officeDocument/2006/relationships/image" Target="../media/image-13-2.svg"/><Relationship Id="rId13" Type="http://schemas.openxmlformats.org/officeDocument/2006/relationships/image" Target="../media/image-13-1.png"/><Relationship Id="rId14" Type="http://schemas.openxmlformats.org/officeDocument/2006/relationships/image" Target="../media/image-13-2.svg"/><Relationship Id="rId15" Type="http://schemas.openxmlformats.org/officeDocument/2006/relationships/image" Target="../media/image-13-1.png"/><Relationship Id="rId16" Type="http://schemas.openxmlformats.org/officeDocument/2006/relationships/image" Target="../media/image-13-2.svg"/><Relationship Id="rId17" Type="http://schemas.openxmlformats.org/officeDocument/2006/relationships/image" Target="../media/image-12-3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3.png"/><Relationship Id="rId6" Type="http://schemas.openxmlformats.org/officeDocument/2006/relationships/image" Target="../media/image-15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C50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929779"/>
            <a:ext cx="4101700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991001"/>
            <a:ext cx="448447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MAINTENANCE SERVICE — DIGITAL CHANNEL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57628" y="929779"/>
            <a:ext cx="1024309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71033" y="991001"/>
            <a:ext cx="14070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1310982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CMS Test Automation &amp; CI/CD Integration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661475" y="402153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Shift-Left Quality Engineering  |  Automated Regression  |  Continuous Feedback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838998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502800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80% Faster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43669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Execution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23397" y="4838998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3012404" y="502800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 Manual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3012404" y="543669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Effort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985320" y="4838998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5174327" y="502800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Continuous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74327" y="543669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Feedback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0722"/>
            <a:ext cx="1878362" cy="18663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1370771"/>
            <a:ext cx="23407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DIGITAL CHANNEL · JULY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55798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2056840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shift-left quality engineering programme delivering automated CI/CD test pipelines across all 6 CMS Digital Channel projects — eliminating manual regression and enabling continuous delivery confidence.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03732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80%+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61425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Testing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8010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145753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CMS Projects Covered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3732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1425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 Types Automated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8010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145704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Bug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431247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Delivered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11" y="4624288"/>
            <a:ext cx="184245" cy="1842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21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CI/CD pipelines across all 6 CMS projects via GitHub Actions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790" y="4624288"/>
            <a:ext cx="184245" cy="1842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45000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Regression, security (OWASP ZAP), performance (k6) &amp; cross-browser testing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511" y="5158581"/>
            <a:ext cx="184245" cy="1842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21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Slack notifications with pass/fail summaries &amp; pipeline links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790" y="5158581"/>
            <a:ext cx="184245" cy="1842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45000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Shift-left quality gates preventing defective code reaching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951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 </a:t>
            </a:r>
            <a:pPr algn="l" indent="0" marL="0">
              <a:lnSpc>
                <a:spcPct val="104000"/>
              </a:lnSpc>
              <a:buNone/>
            </a:pPr>
            <a:r>
              <a:rPr lang="en-US" sz="2350" i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(Before Automation)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134666"/>
            <a:ext cx="896121" cy="183654"/>
          </a:xfrm>
          <a:prstGeom prst="roundRect">
            <a:avLst>
              <a:gd name="adj" fmla="val 7902"/>
            </a:avLst>
          </a:prstGeom>
          <a:solidFill>
            <a:srgbClr val="1107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02" y="1178123"/>
            <a:ext cx="96736" cy="967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9056" y="1174614"/>
            <a:ext cx="1215598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1355907"/>
            <a:ext cx="58450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Testing Challenges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25203"/>
            <a:ext cx="5845029" cy="6920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19" y="1758752"/>
            <a:ext cx="55271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40A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2–3 Days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Full Regression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45819" y="2025055"/>
            <a:ext cx="55271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of manual effort blocked every deployment window.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94545"/>
            <a:ext cx="5845029" cy="6920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819" y="2528094"/>
            <a:ext cx="55271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40A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1–2 Days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Cross-Browser Checks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45819" y="2794397"/>
            <a:ext cx="55271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compatibility checks with no automated coverage.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163888"/>
            <a:ext cx="5845029" cy="6920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5819" y="3297436"/>
            <a:ext cx="55271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40A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Zero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Security Scanning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45819" y="3563739"/>
            <a:ext cx="55271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security scanning — vulnerabilities found too late.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3933230"/>
            <a:ext cx="5845029" cy="69205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5819" y="4066778"/>
            <a:ext cx="55271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40A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Late Stage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Performance Feedback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845819" y="4333081"/>
            <a:ext cx="55271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issues surfaced after costly rework was needed.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702572"/>
            <a:ext cx="5845029" cy="69205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5819" y="4836120"/>
            <a:ext cx="55271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40A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Email &amp; Meetings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Communication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845819" y="5102423"/>
            <a:ext cx="552714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feedback — results via email and meetings only.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6720811" y="1047651"/>
            <a:ext cx="4902871" cy="5256411"/>
          </a:xfrm>
          <a:prstGeom prst="roundRect">
            <a:avLst>
              <a:gd name="adj" fmla="val 370"/>
            </a:avLst>
          </a:prstGeom>
          <a:solidFill>
            <a:srgbClr val="1E3A8A"/>
          </a:solidFill>
          <a:ln/>
        </p:spPr>
      </p:sp>
      <p:sp>
        <p:nvSpPr>
          <p:cNvPr id="23" name="Shape 15"/>
          <p:cNvSpPr/>
          <p:nvPr/>
        </p:nvSpPr>
        <p:spPr>
          <a:xfrm>
            <a:off x="6841656" y="1134666"/>
            <a:ext cx="1159541" cy="183654"/>
          </a:xfrm>
          <a:prstGeom prst="roundRect">
            <a:avLst>
              <a:gd name="adj" fmla="val 7902"/>
            </a:avLst>
          </a:prstGeom>
          <a:solidFill>
            <a:srgbClr val="11074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4183" y="1178123"/>
            <a:ext cx="96736" cy="967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59237" y="1174614"/>
            <a:ext cx="1479017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6841656" y="1355907"/>
            <a:ext cx="466118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Cost of Manual Testing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657313" y="1685627"/>
            <a:ext cx="3029767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5+</a:t>
            </a:r>
            <a:endParaRPr lang="en-US" sz="3100" dirty="0"/>
          </a:p>
        </p:txBody>
      </p:sp>
      <p:sp>
        <p:nvSpPr>
          <p:cNvPr id="28" name="Text 19"/>
          <p:cNvSpPr/>
          <p:nvPr/>
        </p:nvSpPr>
        <p:spPr>
          <a:xfrm>
            <a:off x="6841656" y="2203152"/>
            <a:ext cx="466118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Days Lost Per Release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841656" y="2469455"/>
            <a:ext cx="466118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&amp; browser testing per cycle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7657313" y="2843213"/>
            <a:ext cx="3029767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10×</a:t>
            </a:r>
            <a:endParaRPr lang="en-US" sz="3100" dirty="0"/>
          </a:p>
        </p:txBody>
      </p:sp>
      <p:sp>
        <p:nvSpPr>
          <p:cNvPr id="31" name="Text 22"/>
          <p:cNvSpPr/>
          <p:nvPr/>
        </p:nvSpPr>
        <p:spPr>
          <a:xfrm>
            <a:off x="6841607" y="3360737"/>
            <a:ext cx="466118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Late Bug Fix Cost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6841656" y="3627041"/>
            <a:ext cx="466118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defects cost 10× more to fix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841656" y="3872706"/>
            <a:ext cx="2291896" cy="831652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34" name="Text 25"/>
          <p:cNvSpPr/>
          <p:nvPr/>
        </p:nvSpPr>
        <p:spPr>
          <a:xfrm>
            <a:off x="6962502" y="3993555"/>
            <a:ext cx="2050205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Delayed Releases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6962502" y="4266208"/>
            <a:ext cx="205020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bottlenecks every release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9210841" y="3872706"/>
            <a:ext cx="2291995" cy="831652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37" name="Text 28"/>
          <p:cNvSpPr/>
          <p:nvPr/>
        </p:nvSpPr>
        <p:spPr>
          <a:xfrm>
            <a:off x="9331687" y="3993555"/>
            <a:ext cx="2050304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Production Defects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9331687" y="4266208"/>
            <a:ext cx="2050304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Bugs slipping through coverage gaps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841656" y="4781649"/>
            <a:ext cx="2291896" cy="831652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40" name="Text 31"/>
          <p:cNvSpPr/>
          <p:nvPr/>
        </p:nvSpPr>
        <p:spPr>
          <a:xfrm>
            <a:off x="6962502" y="4902498"/>
            <a:ext cx="2050205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Inconsistent Coverage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6962502" y="5175151"/>
            <a:ext cx="2050205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standard process across projects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210841" y="4781649"/>
            <a:ext cx="2291995" cy="831652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43" name="Text 34"/>
          <p:cNvSpPr/>
          <p:nvPr/>
        </p:nvSpPr>
        <p:spPr>
          <a:xfrm>
            <a:off x="9331687" y="4902498"/>
            <a:ext cx="2050304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😤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Developer Frustration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9331687" y="5175151"/>
            <a:ext cx="205030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timely feedback for engineers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841656" y="5700316"/>
            <a:ext cx="4661180" cy="516731"/>
          </a:xfrm>
          <a:prstGeom prst="roundRect">
            <a:avLst>
              <a:gd name="adj" fmla="val 3511"/>
            </a:avLst>
          </a:prstGeom>
          <a:solidFill>
            <a:srgbClr val="45070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2502" y="5816302"/>
            <a:ext cx="151106" cy="12084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234453" y="5801639"/>
            <a:ext cx="4147538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5+ days per sprint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consumed by manual testing — with no guarantee of consistent quality across all 6 projects.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36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Solution — Integrated CI/CD Pipeline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8116"/>
            <a:ext cx="2717137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Functional Tests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E2E &amp; API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2068116"/>
            <a:ext cx="2717236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67619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Security Scan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567619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ZAP DAST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2068116"/>
            <a:ext cx="2717137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4854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84854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 load &amp; stress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2068116"/>
            <a:ext cx="2717236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991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Cross‑Browser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001991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BrowserStack runs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3287"/>
            <a:ext cx="2717137" cy="756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0482" y="4858345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Reporting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850482" y="5267027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Allure &amp; Slack alerts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154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86651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integrated ecosystem — from code push to insight delivery.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56955"/>
            <a:ext cx="3622882" cy="642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106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Playwright + TypeScript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UI &amp; API tests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3256955"/>
            <a:ext cx="3622882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988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GitLab CI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44988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orchestration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3256955"/>
            <a:ext cx="3622882" cy="642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870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Allure Reports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7870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test reporting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123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Story-Based Test Execution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50557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stay in their natural workflow — smart tag extraction handles the rest automatically.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1271"/>
            <a:ext cx="2717137" cy="391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302" y="1563588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Name Branch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9302" y="1746845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feature/AFCM-1234-fix-payment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1121271"/>
            <a:ext cx="2717236" cy="391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6439" y="1563588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Push Code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476439" y="1746845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GitLab CI triggers automatically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121271"/>
            <a:ext cx="2717137" cy="3916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3675" y="1563588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Tag Extracted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193675" y="1746845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parsed from branch name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1121271"/>
            <a:ext cx="2717236" cy="3916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0811" y="1563588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 Tests Run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8910811" y="1746845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tagged tests execute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1963539"/>
            <a:ext cx="2717137" cy="3916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9302" y="2405856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5. Check Slack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59302" y="2589113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Pass/fail result in &lt; 5 min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661475" y="2862858"/>
            <a:ext cx="10868745" cy="264021"/>
          </a:xfrm>
          <a:prstGeom prst="roundRect">
            <a:avLst>
              <a:gd name="adj" fmla="val 5562"/>
            </a:avLst>
          </a:prstGeom>
          <a:solidFill>
            <a:srgbClr val="1D0C7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02" y="2937966"/>
            <a:ext cx="122334" cy="978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9463" y="2943167"/>
            <a:ext cx="1106251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Falls back to full regression automatically if no story tag is found in the branch name or commit message.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661475" y="3237660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Manual Trigger Options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661475" y="3444577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72002" y="3555107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772002" y="3758704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3344283" y="3444577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454810" y="3555107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 Tags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454810" y="3758704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@smoke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@regression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a specific story ID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61475" y="4038798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2002" y="4149328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Gates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72002" y="4352925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OWASP ZAP, k6 load tests, and BrowserStack on/off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6221555" y="3237660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Smart Tag Extraction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221555" y="3444577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32081" y="3555107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Branch Name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32081" y="3758704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8904362" y="3444577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014889" y="3555107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Commit Message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9014889" y="3758704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[AFCM-1234] fix…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6221555" y="4038798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332081" y="4149328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 Match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332081" y="4352925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regression suite runs as fallback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1606907" y="4745335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</a:t>
            </a:r>
            <a:endParaRPr lang="en-US" sz="2500" dirty="0"/>
          </a:p>
        </p:txBody>
      </p:sp>
      <p:sp>
        <p:nvSpPr>
          <p:cNvPr id="43" name="Text 35"/>
          <p:cNvSpPr/>
          <p:nvPr/>
        </p:nvSpPr>
        <p:spPr>
          <a:xfrm>
            <a:off x="661475" y="5155307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Faster Feedback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61475" y="5338564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full regression run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7072929" y="4745335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&lt;5m</a:t>
            </a:r>
            <a:endParaRPr lang="en-US" sz="2500" dirty="0"/>
          </a:p>
        </p:txBody>
      </p:sp>
      <p:sp>
        <p:nvSpPr>
          <p:cNvPr id="46" name="Text 38"/>
          <p:cNvSpPr/>
          <p:nvPr/>
        </p:nvSpPr>
        <p:spPr>
          <a:xfrm>
            <a:off x="6127497" y="5155307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Targeted Result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127497" y="5338564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story-tagged execution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4339918" y="5607745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</a:t>
            </a:r>
            <a:endParaRPr lang="en-US" sz="2500" dirty="0"/>
          </a:p>
        </p:txBody>
      </p:sp>
      <p:sp>
        <p:nvSpPr>
          <p:cNvPr id="49" name="Text 41"/>
          <p:cNvSpPr/>
          <p:nvPr/>
        </p:nvSpPr>
        <p:spPr>
          <a:xfrm>
            <a:off x="3394486" y="6017716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Extra Steps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3394486" y="6200973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name the branch correctly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0151"/>
            <a:ext cx="1473659" cy="201116"/>
          </a:xfrm>
          <a:prstGeom prst="roundRect">
            <a:avLst>
              <a:gd name="adj" fmla="val 7895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777776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772478"/>
            <a:ext cx="176585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SHIFT-LEFT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97920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ZAP Integration — Security at Every Commit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618662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Scanning 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192405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129730"/>
            <a:ext cx="286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233910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Browser Proxy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2533154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routes traffic through ZAP proxy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23973" y="192405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23973" y="2129730"/>
            <a:ext cx="2870029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3" name="Text 10"/>
          <p:cNvSpPr/>
          <p:nvPr/>
        </p:nvSpPr>
        <p:spPr>
          <a:xfrm>
            <a:off x="3623973" y="2233910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Active Scan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23973" y="2533154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 crawls URLs and detects vulnerabilities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290492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1475" y="3110607"/>
            <a:ext cx="286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3214787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 Triage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1475" y="3514030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ranked: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/ Medium / 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23973" y="290492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23973" y="3110607"/>
            <a:ext cx="2870029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1" name="Text 18"/>
          <p:cNvSpPr/>
          <p:nvPr/>
        </p:nvSpPr>
        <p:spPr>
          <a:xfrm>
            <a:off x="3623973" y="3214787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Instant Alert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23973" y="3514030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 notification + HTML report artifact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23004" y="1618662"/>
            <a:ext cx="47134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Vulnerabilities Detected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23004" y="1924050"/>
            <a:ext cx="2310449" cy="471190"/>
          </a:xfrm>
          <a:prstGeom prst="roundRect">
            <a:avLst>
              <a:gd name="adj" fmla="val 4212"/>
            </a:avLst>
          </a:prstGeom>
          <a:solidFill>
            <a:srgbClr val="4C5052"/>
          </a:solidFill>
          <a:ln/>
        </p:spPr>
      </p:sp>
      <p:sp>
        <p:nvSpPr>
          <p:cNvPr id="25" name="Text 22"/>
          <p:cNvSpPr/>
          <p:nvPr/>
        </p:nvSpPr>
        <p:spPr>
          <a:xfrm>
            <a:off x="6955259" y="2056309"/>
            <a:ext cx="204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SQL Injection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226022" y="1924050"/>
            <a:ext cx="2310449" cy="471190"/>
          </a:xfrm>
          <a:prstGeom prst="roundRect">
            <a:avLst>
              <a:gd name="adj" fmla="val 4212"/>
            </a:avLst>
          </a:prstGeom>
          <a:solidFill>
            <a:srgbClr val="4C5052"/>
          </a:solidFill>
          <a:ln/>
        </p:spPr>
      </p:sp>
      <p:sp>
        <p:nvSpPr>
          <p:cNvPr id="27" name="Text 24"/>
          <p:cNvSpPr/>
          <p:nvPr/>
        </p:nvSpPr>
        <p:spPr>
          <a:xfrm>
            <a:off x="9358277" y="2056309"/>
            <a:ext cx="204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XSS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23004" y="2487811"/>
            <a:ext cx="2310449" cy="471190"/>
          </a:xfrm>
          <a:prstGeom prst="roundRect">
            <a:avLst>
              <a:gd name="adj" fmla="val 4212"/>
            </a:avLst>
          </a:prstGeom>
          <a:solidFill>
            <a:srgbClr val="4C5052"/>
          </a:solidFill>
          <a:ln/>
        </p:spPr>
      </p:sp>
      <p:sp>
        <p:nvSpPr>
          <p:cNvPr id="29" name="Text 26"/>
          <p:cNvSpPr/>
          <p:nvPr/>
        </p:nvSpPr>
        <p:spPr>
          <a:xfrm>
            <a:off x="6955259" y="2620070"/>
            <a:ext cx="204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Misconfigurations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26022" y="2487811"/>
            <a:ext cx="2310449" cy="471190"/>
          </a:xfrm>
          <a:prstGeom prst="roundRect">
            <a:avLst>
              <a:gd name="adj" fmla="val 4212"/>
            </a:avLst>
          </a:prstGeom>
          <a:solidFill>
            <a:srgbClr val="4C5052"/>
          </a:solidFill>
          <a:ln/>
        </p:spPr>
      </p:sp>
      <p:sp>
        <p:nvSpPr>
          <p:cNvPr id="31" name="Text 28"/>
          <p:cNvSpPr/>
          <p:nvPr/>
        </p:nvSpPr>
        <p:spPr>
          <a:xfrm>
            <a:off x="9358277" y="2620070"/>
            <a:ext cx="204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Missing Headers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823004" y="3063180"/>
            <a:ext cx="4713467" cy="412750"/>
          </a:xfrm>
          <a:prstGeom prst="roundRect">
            <a:avLst>
              <a:gd name="adj" fmla="val 4808"/>
            </a:avLst>
          </a:prstGeom>
          <a:solidFill>
            <a:srgbClr val="183A13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59" y="3206353"/>
            <a:ext cx="165294" cy="13225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52808" y="3182202"/>
            <a:ext cx="476099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Security issues caught at dev time — not in production.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167780" y="3646190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</a:t>
            </a:r>
            <a:endParaRPr lang="en-US" sz="3400" dirty="0"/>
          </a:p>
        </p:txBody>
      </p:sp>
      <p:sp>
        <p:nvSpPr>
          <p:cNvPr id="36" name="Text 32"/>
          <p:cNvSpPr/>
          <p:nvPr/>
        </p:nvSpPr>
        <p:spPr>
          <a:xfrm>
            <a:off x="6822954" y="4218384"/>
            <a:ext cx="2298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 Escapes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582406" y="3646190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100%</a:t>
            </a:r>
            <a:endParaRPr lang="en-US" sz="3400" dirty="0"/>
          </a:p>
        </p:txBody>
      </p:sp>
      <p:sp>
        <p:nvSpPr>
          <p:cNvPr id="38" name="Text 34"/>
          <p:cNvSpPr/>
          <p:nvPr/>
        </p:nvSpPr>
        <p:spPr>
          <a:xfrm>
            <a:off x="9237531" y="4218384"/>
            <a:ext cx="22989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 Coverage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1475" y="466645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661475" y="4862916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🚦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Mandatory Quality Gates</a:t>
            </a:r>
            <a:endParaRPr lang="en-US" sz="13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03031"/>
            <a:ext cx="2647685" cy="92481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88978" y="5354340"/>
            <a:ext cx="22688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Functional Tests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88978" y="5616575"/>
            <a:ext cx="226887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Story-tagged tests must pass before merge</a:t>
            </a:r>
            <a:endParaRPr lang="en-US" sz="10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1729" y="5203031"/>
            <a:ext cx="2647785" cy="92481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629232" y="5354340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Security Gate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3629232" y="5616575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high-severity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findings — any High blocks merge</a:t>
            </a:r>
            <a:endParaRPr lang="en-US" sz="10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082" y="5203031"/>
            <a:ext cx="2647785" cy="92481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369585" y="5354340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Performance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369585" y="5616575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times within defined SLA bounds</a:t>
            </a:r>
            <a:endParaRPr lang="en-US" sz="10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2436" y="5203031"/>
            <a:ext cx="2647785" cy="92481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109939" y="5354340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Cross-Browser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9109939" y="5616575"/>
            <a:ext cx="226897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Chrome, Firefox, and Safari verified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3537"/>
            <a:ext cx="1674076" cy="18663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877689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873586"/>
            <a:ext cx="198908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DASHBOARD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106080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Testing with k6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922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2500ms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1425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1475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Contentful Paint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66061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1800ms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403564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FCP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03614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Contentful Paint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0820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0.1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6145704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5753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Layout Shift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5034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p95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8887843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 Latency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87892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percentile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1475" y="272130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 Vitals Targets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1475" y="3058517"/>
            <a:ext cx="1294475" cy="153491"/>
          </a:xfrm>
          <a:prstGeom prst="roundRect">
            <a:avLst>
              <a:gd name="adj" fmla="val 12007"/>
            </a:avLst>
          </a:prstGeom>
          <a:solidFill>
            <a:srgbClr val="4C5052"/>
          </a:solidFill>
          <a:ln/>
        </p:spPr>
      </p:sp>
      <p:sp>
        <p:nvSpPr>
          <p:cNvPr id="20" name="Shape 17"/>
          <p:cNvSpPr/>
          <p:nvPr/>
        </p:nvSpPr>
        <p:spPr>
          <a:xfrm>
            <a:off x="661475" y="3058517"/>
            <a:ext cx="970831" cy="153491"/>
          </a:xfrm>
          <a:prstGeom prst="roundRect">
            <a:avLst>
              <a:gd name="adj" fmla="val 12007"/>
            </a:avLst>
          </a:prstGeom>
          <a:solidFill>
            <a:srgbClr val="AC9EF5"/>
          </a:solidFill>
          <a:ln/>
        </p:spPr>
      </p:sp>
      <p:sp>
        <p:nvSpPr>
          <p:cNvPr id="21" name="Text 18"/>
          <p:cNvSpPr/>
          <p:nvPr/>
        </p:nvSpPr>
        <p:spPr>
          <a:xfrm>
            <a:off x="2048022" y="3058418"/>
            <a:ext cx="29844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1475" y="3333254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LCP &lt; 2500ms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53609" y="3058517"/>
            <a:ext cx="1277906" cy="153491"/>
          </a:xfrm>
          <a:prstGeom prst="roundRect">
            <a:avLst>
              <a:gd name="adj" fmla="val 12007"/>
            </a:avLst>
          </a:prstGeom>
          <a:solidFill>
            <a:srgbClr val="4C5052"/>
          </a:solidFill>
          <a:ln/>
        </p:spPr>
      </p:sp>
      <p:sp>
        <p:nvSpPr>
          <p:cNvPr id="24" name="Shape 21"/>
          <p:cNvSpPr/>
          <p:nvPr/>
        </p:nvSpPr>
        <p:spPr>
          <a:xfrm>
            <a:off x="3353609" y="3058517"/>
            <a:ext cx="1086220" cy="153491"/>
          </a:xfrm>
          <a:prstGeom prst="roundRect">
            <a:avLst>
              <a:gd name="adj" fmla="val 12007"/>
            </a:avLst>
          </a:prstGeom>
          <a:solidFill>
            <a:srgbClr val="AC9EF5"/>
          </a:solidFill>
          <a:ln/>
        </p:spPr>
      </p:sp>
      <p:sp>
        <p:nvSpPr>
          <p:cNvPr id="25" name="Text 22"/>
          <p:cNvSpPr/>
          <p:nvPr/>
        </p:nvSpPr>
        <p:spPr>
          <a:xfrm>
            <a:off x="4723587" y="3058418"/>
            <a:ext cx="31501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53609" y="3333254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FCP &lt; 1800ms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1475" y="3746302"/>
            <a:ext cx="1264114" cy="153491"/>
          </a:xfrm>
          <a:prstGeom prst="roundRect">
            <a:avLst>
              <a:gd name="adj" fmla="val 12007"/>
            </a:avLst>
          </a:prstGeom>
          <a:solidFill>
            <a:srgbClr val="4C5052"/>
          </a:solidFill>
          <a:ln/>
        </p:spPr>
      </p:sp>
      <p:sp>
        <p:nvSpPr>
          <p:cNvPr id="28" name="Shape 25"/>
          <p:cNvSpPr/>
          <p:nvPr/>
        </p:nvSpPr>
        <p:spPr>
          <a:xfrm>
            <a:off x="661475" y="3746302"/>
            <a:ext cx="1137614" cy="153491"/>
          </a:xfrm>
          <a:prstGeom prst="roundRect">
            <a:avLst>
              <a:gd name="adj" fmla="val 12007"/>
            </a:avLst>
          </a:prstGeom>
          <a:solidFill>
            <a:srgbClr val="AC9EF5"/>
          </a:solidFill>
          <a:ln/>
        </p:spPr>
      </p:sp>
      <p:sp>
        <p:nvSpPr>
          <p:cNvPr id="29" name="Text 26"/>
          <p:cNvSpPr/>
          <p:nvPr/>
        </p:nvSpPr>
        <p:spPr>
          <a:xfrm>
            <a:off x="2017662" y="3746202"/>
            <a:ext cx="32880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1475" y="4021038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CLS &lt; 0.1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353609" y="3746302"/>
            <a:ext cx="1266198" cy="153491"/>
          </a:xfrm>
          <a:prstGeom prst="roundRect">
            <a:avLst>
              <a:gd name="adj" fmla="val 12007"/>
            </a:avLst>
          </a:prstGeom>
          <a:solidFill>
            <a:srgbClr val="4C5052"/>
          </a:solidFill>
          <a:ln/>
        </p:spPr>
      </p:sp>
      <p:sp>
        <p:nvSpPr>
          <p:cNvPr id="32" name="Shape 29"/>
          <p:cNvSpPr/>
          <p:nvPr/>
        </p:nvSpPr>
        <p:spPr>
          <a:xfrm>
            <a:off x="3353609" y="3746302"/>
            <a:ext cx="1012899" cy="153491"/>
          </a:xfrm>
          <a:prstGeom prst="roundRect">
            <a:avLst>
              <a:gd name="adj" fmla="val 12007"/>
            </a:avLst>
          </a:prstGeom>
          <a:solidFill>
            <a:srgbClr val="AC9EF5"/>
          </a:solidFill>
          <a:ln/>
        </p:spPr>
      </p:sp>
      <p:sp>
        <p:nvSpPr>
          <p:cNvPr id="33" name="Text 30"/>
          <p:cNvSpPr/>
          <p:nvPr/>
        </p:nvSpPr>
        <p:spPr>
          <a:xfrm>
            <a:off x="4711880" y="3746202"/>
            <a:ext cx="3267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53609" y="4021038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TTFB &lt; 800ms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52014" y="272130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 Load Test Metrics</a:t>
            </a:r>
            <a:endParaRPr lang="en-US" sz="12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14" y="2997101"/>
            <a:ext cx="3434867" cy="247273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61475" y="5649416"/>
            <a:ext cx="10868745" cy="375047"/>
          </a:xfrm>
          <a:prstGeom prst="roundRect">
            <a:avLst>
              <a:gd name="adj" fmla="val 4914"/>
            </a:avLst>
          </a:prstGeom>
          <a:solidFill>
            <a:srgbClr val="183A13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5" y="5766594"/>
            <a:ext cx="153488" cy="12283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60622" y="5763751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Gate: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Builds fail automatically if any Web Vital or API threshold is breached.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917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Cross-Browser Compatibility &amp; Real-Time Notifications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89351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GDS-compliant rendering validated across all major browsers via BrowserStack cloud — with instant Slack alerts on every test run.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61475" y="121711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4C5052"/>
          </a:solidFill>
          <a:ln/>
        </p:spPr>
      </p:sp>
      <p:sp>
        <p:nvSpPr>
          <p:cNvPr id="5" name="Shape 3"/>
          <p:cNvSpPr/>
          <p:nvPr/>
        </p:nvSpPr>
        <p:spPr>
          <a:xfrm>
            <a:off x="759302" y="1314946"/>
            <a:ext cx="293680" cy="29368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064" y="1395611"/>
            <a:ext cx="132156" cy="132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302" y="165933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Chrome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9302" y="186293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11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61475" y="213032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4C5052"/>
          </a:solidFill>
          <a:ln/>
        </p:spPr>
      </p:sp>
      <p:sp>
        <p:nvSpPr>
          <p:cNvPr id="10" name="Shape 7"/>
          <p:cNvSpPr/>
          <p:nvPr/>
        </p:nvSpPr>
        <p:spPr>
          <a:xfrm>
            <a:off x="759302" y="2228155"/>
            <a:ext cx="293680" cy="29368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064" y="2308820"/>
            <a:ext cx="132156" cy="1321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302" y="257254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Edge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59302" y="277614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11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61475" y="304353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4C5052"/>
          </a:solidFill>
          <a:ln/>
        </p:spPr>
      </p:sp>
      <p:sp>
        <p:nvSpPr>
          <p:cNvPr id="15" name="Shape 11"/>
          <p:cNvSpPr/>
          <p:nvPr/>
        </p:nvSpPr>
        <p:spPr>
          <a:xfrm>
            <a:off x="759302" y="3141365"/>
            <a:ext cx="293680" cy="29368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064" y="3222030"/>
            <a:ext cx="132156" cy="1321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9302" y="348575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Firefox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59302" y="3689350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11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61475" y="395674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4C5052"/>
          </a:solidFill>
          <a:ln/>
        </p:spPr>
      </p:sp>
      <p:sp>
        <p:nvSpPr>
          <p:cNvPr id="20" name="Shape 15"/>
          <p:cNvSpPr/>
          <p:nvPr/>
        </p:nvSpPr>
        <p:spPr>
          <a:xfrm>
            <a:off x="759302" y="4054574"/>
            <a:ext cx="293680" cy="29368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064" y="4135239"/>
            <a:ext cx="132156" cy="1321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302" y="439896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Safari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59302" y="4602559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macOS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61475" y="4879333"/>
            <a:ext cx="4204190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BrowserStack Integration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86251"/>
            <a:ext cx="4204190" cy="5435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801" y="5196780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CDP WebSocket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822801" y="5400377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cloud cross-browser rendering</a:t>
            </a:r>
            <a:endParaRPr lang="en-US" sz="7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680472"/>
            <a:ext cx="4204190" cy="5435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2801" y="5791002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Coverage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822801" y="5994598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browsers × 2 OS = full GDS matrix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5110729" y="1213796"/>
            <a:ext cx="642574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Real-Time Slack Alerts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10729" y="1420713"/>
            <a:ext cx="6425742" cy="5435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72055" y="1531243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Test Results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5272055" y="1734840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Pass/Fail counts, pass rate &amp; failed test names</a:t>
            </a:r>
            <a:endParaRPr lang="en-US" sz="7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10729" y="2014934"/>
            <a:ext cx="6425742" cy="5435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72055" y="2125464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Report Links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5272055" y="2329061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Allure report &amp; pipeline links with duration</a:t>
            </a:r>
            <a:endParaRPr lang="en-US" sz="7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0729" y="2609155"/>
            <a:ext cx="6425742" cy="5435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72055" y="2719685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Security Alerts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5272055" y="2923282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 vulnerability counts &amp; k6 Web Vitals summary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734"/>
            <a:ext cx="1435659" cy="180777"/>
          </a:xfrm>
          <a:prstGeom prst="roundRect">
            <a:avLst>
              <a:gd name="adj" fmla="val 7901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811" y="584498"/>
            <a:ext cx="95148" cy="951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5484" y="581583"/>
            <a:ext cx="1759898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LOGGING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57911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Failure Reporting &amp; Migration from Legacy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61475" y="1239242"/>
            <a:ext cx="1147833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tests fail, the system instantly captures and broadcasts everything your team needs — no human intervention required. Built on a modernised stack migrated from legacy tooling.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5752" y="1476177"/>
            <a:ext cx="4121543" cy="4839990"/>
          </a:xfrm>
          <a:prstGeom prst="roundRect">
            <a:avLst>
              <a:gd name="adj" fmla="val 433"/>
            </a:avLst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94712" y="1555392"/>
            <a:ext cx="388362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Triggers Automatically When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12" y="1821359"/>
            <a:ext cx="3883622" cy="679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171" y="1953022"/>
            <a:ext cx="3569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Functional Test Fails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77171" y="2213967"/>
            <a:ext cx="356950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failing Cypress or integration test triggers the pipeline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12" y="2575719"/>
            <a:ext cx="3883622" cy="679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171" y="2707382"/>
            <a:ext cx="35695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Allure Report Shows Failures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77171" y="2968327"/>
            <a:ext cx="356950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generation detects and flags failed scenarios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94712" y="3339405"/>
            <a:ext cx="3883622" cy="504428"/>
          </a:xfrm>
          <a:prstGeom prst="roundRect">
            <a:avLst>
              <a:gd name="adj" fmla="val 3539"/>
            </a:avLst>
          </a:prstGeom>
          <a:solidFill>
            <a:srgbClr val="183A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673" y="3454102"/>
            <a:ext cx="148725" cy="1189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81358" y="3438922"/>
            <a:ext cx="3378016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manual logging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failures reported instantly to Slack.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94712" y="3932376"/>
            <a:ext cx="388362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Migration from Legacy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712" y="4198342"/>
            <a:ext cx="595099" cy="10167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64720" y="4317305"/>
            <a:ext cx="32136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Legacy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64720" y="4578251"/>
            <a:ext cx="3213615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Selenium / Java / Cucumber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Postman tests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CI/CD pipeline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12" y="5215136"/>
            <a:ext cx="595099" cy="10167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64720" y="5334099"/>
            <a:ext cx="32136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Migrated To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364720" y="5595045"/>
            <a:ext cx="3213615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/ TypeScript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API tests</a:t>
            </a:r>
            <a:endParaRPr lang="en-US" sz="900" dirty="0"/>
          </a:p>
          <a:p>
            <a:pPr algn="l" marL="182880" indent="-182880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GitLab CI/CD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4908229" y="1555392"/>
            <a:ext cx="662824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Every Failure Report Includes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908229" y="1821359"/>
            <a:ext cx="2159442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27" name="Shape 19"/>
          <p:cNvSpPr/>
          <p:nvPr/>
        </p:nvSpPr>
        <p:spPr>
          <a:xfrm>
            <a:off x="5027189" y="1940322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25314" y="2038449"/>
            <a:ext cx="160631" cy="16063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27189" y="2372221"/>
            <a:ext cx="1921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Pipeline Link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5027189" y="2633166"/>
            <a:ext cx="19215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URL to the CI run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7142579" y="1821359"/>
            <a:ext cx="2159442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32" name="Shape 23"/>
          <p:cNvSpPr/>
          <p:nvPr/>
        </p:nvSpPr>
        <p:spPr>
          <a:xfrm>
            <a:off x="7261539" y="1940322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59664" y="2038449"/>
            <a:ext cx="160631" cy="16063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61539" y="2372221"/>
            <a:ext cx="1921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Branch &amp; Env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7261539" y="2633166"/>
            <a:ext cx="19215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context of failure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9376929" y="1821359"/>
            <a:ext cx="2159541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37" name="Shape 27"/>
          <p:cNvSpPr/>
          <p:nvPr/>
        </p:nvSpPr>
        <p:spPr>
          <a:xfrm>
            <a:off x="9495890" y="1940322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4015" y="2038449"/>
            <a:ext cx="160631" cy="16063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495890" y="2372221"/>
            <a:ext cx="19216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Tags Used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495890" y="2633166"/>
            <a:ext cx="19216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scope of the run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4908229" y="2982218"/>
            <a:ext cx="2159442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42" name="Shape 31"/>
          <p:cNvSpPr/>
          <p:nvPr/>
        </p:nvSpPr>
        <p:spPr>
          <a:xfrm>
            <a:off x="5027189" y="3101181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25314" y="3199309"/>
            <a:ext cx="160631" cy="16063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27189" y="3533080"/>
            <a:ext cx="1921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Failure Count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5027189" y="3794026"/>
            <a:ext cx="19215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failed tests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7142579" y="2982218"/>
            <a:ext cx="2159442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47" name="Shape 35"/>
          <p:cNvSpPr/>
          <p:nvPr/>
        </p:nvSpPr>
        <p:spPr>
          <a:xfrm>
            <a:off x="7261539" y="3101181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59664" y="3199309"/>
            <a:ext cx="160631" cy="16063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261539" y="3533080"/>
            <a:ext cx="1921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Allure Report</a:t>
            </a:r>
            <a:endParaRPr lang="en-US" sz="1150" dirty="0"/>
          </a:p>
        </p:txBody>
      </p:sp>
      <p:sp>
        <p:nvSpPr>
          <p:cNvPr id="50" name="Text 37"/>
          <p:cNvSpPr/>
          <p:nvPr/>
        </p:nvSpPr>
        <p:spPr>
          <a:xfrm>
            <a:off x="7261539" y="3794026"/>
            <a:ext cx="19215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visual test report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9376929" y="2982218"/>
            <a:ext cx="2159541" cy="1085949"/>
          </a:xfrm>
          <a:prstGeom prst="roundRect">
            <a:avLst>
              <a:gd name="adj" fmla="val 1644"/>
            </a:avLst>
          </a:prstGeom>
          <a:solidFill>
            <a:srgbClr val="4C5052"/>
          </a:solidFill>
          <a:ln/>
        </p:spPr>
      </p:sp>
      <p:sp>
        <p:nvSpPr>
          <p:cNvPr id="52" name="Shape 39"/>
          <p:cNvSpPr/>
          <p:nvPr/>
        </p:nvSpPr>
        <p:spPr>
          <a:xfrm>
            <a:off x="9495890" y="3101181"/>
            <a:ext cx="356980" cy="356989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94015" y="3199309"/>
            <a:ext cx="160631" cy="160635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495890" y="3533080"/>
            <a:ext cx="19216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Slack Alert</a:t>
            </a:r>
            <a:endParaRPr lang="en-US" sz="1150" dirty="0"/>
          </a:p>
        </p:txBody>
      </p:sp>
      <p:sp>
        <p:nvSpPr>
          <p:cNvPr id="55" name="Text 41"/>
          <p:cNvSpPr/>
          <p:nvPr/>
        </p:nvSpPr>
        <p:spPr>
          <a:xfrm>
            <a:off x="9495890" y="3794026"/>
            <a:ext cx="192162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team notification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536547"/>
            <a:ext cx="10868745" cy="32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 &amp; Key Outcomes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56682" y="975462"/>
            <a:ext cx="1147833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measurable ROI across all 6 CMS projects through shift-left quality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06311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80%+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25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Less Manual Testing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regression effort across all 6 projects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6203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6131317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Faster Feedback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1367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Story-based vs full regression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6311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61425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CMS Projects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 by automated CI/CD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6203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6131317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1367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· Security · Performance · Compatibility · Reporting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025364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Shift-Left: Defect Detection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47231"/>
            <a:ext cx="3450147" cy="248344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56682" y="5800569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defects dropped from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 → 2%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28549" y="3025364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Cost of Defect by Stage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99" y="3247231"/>
            <a:ext cx="3450147" cy="248344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23806" y="5800569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bugs cost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£100x more</a:t>
            </a:r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dev-time fixes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61475" y="6037957"/>
            <a:ext cx="10868745" cy="288131"/>
          </a:xfrm>
          <a:prstGeom prst="roundRect">
            <a:avLst>
              <a:gd name="adj" fmla="val 5397"/>
            </a:avLst>
          </a:prstGeom>
          <a:solidFill>
            <a:srgbClr val="183A1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57" y="6120705"/>
            <a:ext cx="129576" cy="1035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98215" y="6126701"/>
            <a:ext cx="1103800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Value:</a:t>
            </a:r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living quality platform that scales with the programme, enforces GDS standards automatically, and gives every team real-time confidence in every deployment.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813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Differentiators &amp; Impact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356682" y="1011364"/>
            <a:ext cx="114783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Tangible improvements and strategic advantages through enhanced quality engineering.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06014" y="1256804"/>
            <a:ext cx="350828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25" y="1702197"/>
            <a:ext cx="539746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 Rationalization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902420"/>
            <a:ext cx="539746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1000+ legacy → ~400 high-value scenarios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7196" y="1256804"/>
            <a:ext cx="3508386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92%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32657" y="1702197"/>
            <a:ext cx="539756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Faster 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2657" y="1902420"/>
            <a:ext cx="53975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 hours → ~20 minutes per cycle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6014" y="2204641"/>
            <a:ext cx="350828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80%+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475" y="2650034"/>
            <a:ext cx="539746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Automation Coverage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850257"/>
            <a:ext cx="539746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effort dramatically reduced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7196" y="2204641"/>
            <a:ext cx="3508386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A7F4B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18x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132657" y="2650034"/>
            <a:ext cx="539756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Defect Leakage Cut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2657" y="2850257"/>
            <a:ext cx="53975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defects: 20% → 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076605"/>
            <a:ext cx="1086874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🛠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Strategic Differentiators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29880"/>
            <a:ext cx="5404905" cy="57467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0539" y="3448149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AI-Assisted Migration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0539" y="3654723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3× faster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Selenium → Playwright via GitLab Duo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5315" y="3329880"/>
            <a:ext cx="5404905" cy="5746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94379" y="3448149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Parallel Execution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94379" y="3654723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concurrent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 runs, improved stability</a:t>
            </a:r>
            <a:endParaRPr lang="en-US" sz="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63491"/>
            <a:ext cx="5404905" cy="5746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0539" y="4081760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CI/CD Integration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0539" y="4288334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&lt;5 min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feedback loop on every commit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5315" y="3963491"/>
            <a:ext cx="5404905" cy="5746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94379" y="4081760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Defect Leakage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94379" y="4288334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 → 2%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production defect rate</a:t>
            </a:r>
            <a:endParaRPr lang="en-US" sz="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97102"/>
            <a:ext cx="5404905" cy="5746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0539" y="4715371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E2E Testing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830539" y="492194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200+ scenarios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UI, API, Kafka &amp; AWS</a:t>
            </a:r>
            <a:endParaRPr lang="en-US" sz="8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5315" y="4597102"/>
            <a:ext cx="5404905" cy="5746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94379" y="4715371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Scalable Frameworks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294379" y="492194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 services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covered by reusable automation</a:t>
            </a:r>
            <a:endParaRPr lang="en-US" sz="8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230713"/>
            <a:ext cx="5404905" cy="57467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30539" y="5348982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Release Confidence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830539" y="555555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95% pass rate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continuous validation gates</a:t>
            </a:r>
            <a:endParaRPr lang="en-US" sz="8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25315" y="5230713"/>
            <a:ext cx="5404905" cy="57467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94379" y="5348982"/>
            <a:ext cx="5117575" cy="1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Stakeholder Alignment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6294379" y="5555555"/>
            <a:ext cx="51175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A7F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 alignment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dev, product &amp; business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661475" y="5871666"/>
            <a:ext cx="10868745" cy="427930"/>
          </a:xfrm>
          <a:prstGeom prst="roundRect">
            <a:avLst>
              <a:gd name="adj" fmla="val 3701"/>
            </a:avLst>
          </a:prstGeom>
          <a:solidFill>
            <a:srgbClr val="183A13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41" y="5956995"/>
            <a:ext cx="131958" cy="105569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04565" y="5962181"/>
            <a:ext cx="10420089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Business Impact: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Quality engineering transformation delivered an estimated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10×+ ROI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combining ~£500K+ in avoided production defect costs, 92% faster regression cycles, and a scalable platform now covering 6 CMS services with 95% release confidence.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34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Automated Testing: DWP Caseworker Call Flow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1293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command drives the entire journey — Siebel data setup to live call routing.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82" y="661890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Fully automated • Dynamic &amp; configurable • Repeatable in ~3 minutes.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7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Scenarios &amp; Business Value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2106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Scenarios Automated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21768"/>
            <a:ext cx="5238421" cy="1222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54" y="2101453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call routing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7354" y="2489002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reaches the longest-available caseworker, overflows to the next on no-answer.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80668"/>
            <a:ext cx="5238421" cy="9846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7354" y="3460353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Agent-to-agent warm transfer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17354" y="3847902"/>
            <a:ext cx="480286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caseworker answers, then transfers the call to a colleague.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01840"/>
            <a:ext cx="5238421" cy="9846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354" y="4581525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API-to-Siebel data verification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7354" y="4969073"/>
            <a:ext cx="480286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every routing field.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98149" y="152106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Value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298149" y="1904702"/>
            <a:ext cx="5238421" cy="180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slow, error-prone manual testing with a one-command run.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dynamic — any phone, case, segment, or agent via simple config.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and demo-ready; proven against the live SIT environment.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across segments without code changes.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61475" y="573375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356682" y="5947355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with: Playwright + TypeScript • Oracle (Siebel) • NICE CXone API • Nectar RADAR.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66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Solution Architecture — Automated Caseworker Call Flow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95586"/>
            <a:ext cx="7980064" cy="448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00328"/>
            <a:ext cx="1086874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src/siebelDb.ts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src/contactCentre.ts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src/agentDirectory.ts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src/NectarRunner.ts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src/cxoneClient.ts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src/LiveAgent.ts</a:t>
            </a:r>
            <a:pPr algn="ctr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endParaRPr lang="en-US" sz="10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ct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Secrets in .env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ctr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hardcoded data.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2026-10-09T20:06:40Z</dcterms:created>
  <dcterms:modified xsi:type="dcterms:W3CDTF">2026-10-09T20:06:40Z</dcterms:modified>
</cp:coreProperties>
</file>