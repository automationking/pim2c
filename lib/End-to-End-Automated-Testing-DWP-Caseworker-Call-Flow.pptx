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5.png"/><Relationship Id="rId8" Type="http://schemas.openxmlformats.org/officeDocument/2006/relationships/image" Target="../media/image-4-6.svg"/><Relationship Id="rId9" Type="http://schemas.openxmlformats.org/officeDocument/2006/relationships/image" Target="../media/image-4-5.png"/><Relationship Id="rId10" Type="http://schemas.openxmlformats.org/officeDocument/2006/relationships/image" Target="../media/image-4-6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C50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8885" y="118566"/>
            <a:ext cx="4413735" cy="6620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1143"/>
            <a:ext cx="5182760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FOR WORK AND PENSIONS · CHILD MAINTENANCE SERVICE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867214"/>
            <a:ext cx="6296860" cy="204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Automated Testing: DWP Caseworker Call Flow</a:t>
            </a:r>
            <a:endParaRPr lang="en-US" sz="4250" dirty="0"/>
          </a:p>
        </p:txBody>
      </p:sp>
      <p:sp>
        <p:nvSpPr>
          <p:cNvPr id="6" name="Text 3"/>
          <p:cNvSpPr/>
          <p:nvPr/>
        </p:nvSpPr>
        <p:spPr>
          <a:xfrm>
            <a:off x="661475" y="3097808"/>
            <a:ext cx="629686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command drives the entire journey — Siebel data setup to live call routing.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61475" y="3867150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074517"/>
            <a:ext cx="2010717" cy="1587103"/>
          </a:xfrm>
          <a:prstGeom prst="roundRect">
            <a:avLst>
              <a:gd name="adj" fmla="val 1495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819626" y="4232672"/>
            <a:ext cx="1694415" cy="49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Fully Automated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9626" y="4806355"/>
            <a:ext cx="1694415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manual intervention across the entire test journey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04447" y="4074517"/>
            <a:ext cx="2010816" cy="1587103"/>
          </a:xfrm>
          <a:prstGeom prst="roundRect">
            <a:avLst>
              <a:gd name="adj" fmla="val 1495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2962598" y="4232672"/>
            <a:ext cx="1694515" cy="494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Dynamic &amp; Configurable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2962598" y="4806355"/>
            <a:ext cx="1694515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test parameters adapting to any scenario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47518" y="4074517"/>
            <a:ext cx="2010717" cy="1587103"/>
          </a:xfrm>
          <a:prstGeom prst="roundRect">
            <a:avLst>
              <a:gd name="adj" fmla="val 1495"/>
            </a:avLst>
          </a:prstGeom>
          <a:solidFill>
            <a:srgbClr val="4C5052"/>
          </a:solidFill>
          <a:ln/>
        </p:spPr>
      </p:sp>
      <p:sp>
        <p:nvSpPr>
          <p:cNvPr id="15" name="Text 12"/>
          <p:cNvSpPr/>
          <p:nvPr/>
        </p:nvSpPr>
        <p:spPr>
          <a:xfrm>
            <a:off x="5105669" y="4232672"/>
            <a:ext cx="1694415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~3 Minutes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105669" y="4559201"/>
            <a:ext cx="1694415" cy="697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repeatable end-to-end execution per run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1475" y="5849937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61475" y="6057305"/>
            <a:ext cx="2741445" cy="240308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6326" y="6108060"/>
            <a:ext cx="3161328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FOR WORK AND PENSIONS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81995" y="6057305"/>
            <a:ext cx="2103683" cy="240308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76846" y="6108060"/>
            <a:ext cx="2523566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CHILD MAINTENANCE SERVICE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4753" y="6057305"/>
            <a:ext cx="1141086" cy="240308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AC9E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59604" y="6108060"/>
            <a:ext cx="1560970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OCTOBER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6771"/>
            <a:ext cx="2477926" cy="201116"/>
          </a:xfrm>
          <a:prstGeom prst="roundRect">
            <a:avLst>
              <a:gd name="adj" fmla="val 7895"/>
            </a:avLst>
          </a:prstGeom>
          <a:solidFill>
            <a:srgbClr val="1107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848" y="724396"/>
            <a:ext cx="105765" cy="105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495" y="719098"/>
            <a:ext cx="277011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END-TO-END AUTOMATION       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92582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DWP Caseworker Call Flow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1469884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command drives the entire journey — Siebel data setup to live call routing.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51409"/>
            <a:ext cx="3622882" cy="5292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3730" y="2373213"/>
            <a:ext cx="3358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Siebel (Oracle DB)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93730" y="2635448"/>
            <a:ext cx="335837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Clears test phone; maps to random eligible case's NRP (home + mobile)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57" y="1751409"/>
            <a:ext cx="3622882" cy="5292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16612" y="2373213"/>
            <a:ext cx="3358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Contact-Centre API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416612" y="2635448"/>
            <a:ext cx="335837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routing API; verifies 6 fields: CRN, segment, postcode, children, DOB, self-service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239" y="1751409"/>
            <a:ext cx="3622882" cy="5292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39494" y="2373213"/>
            <a:ext cx="3358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Agent Directory (Excel)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039494" y="2635448"/>
            <a:ext cx="335837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API segment to pick right caseworkers and routing skill dynamically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127673"/>
            <a:ext cx="3622882" cy="52923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30" y="3749477"/>
            <a:ext cx="3358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IVR Call via Nectar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93730" y="4011712"/>
            <a:ext cx="335837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places the real voice call and keys the security answers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357" y="3127673"/>
            <a:ext cx="3622882" cy="52923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16612" y="3749477"/>
            <a:ext cx="3358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NICE CXone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416612" y="4011712"/>
            <a:ext cx="335837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call routing to longest-available agent and overflow to next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056058" y="4674195"/>
            <a:ext cx="1841255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D6EAE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3400" dirty="0"/>
          </a:p>
        </p:txBody>
      </p:sp>
      <p:sp>
        <p:nvSpPr>
          <p:cNvPr id="23" name="Text 15"/>
          <p:cNvSpPr/>
          <p:nvPr/>
        </p:nvSpPr>
        <p:spPr>
          <a:xfrm>
            <a:off x="661425" y="5246390"/>
            <a:ext cx="263042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Integrated Stages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61475" y="5508625"/>
            <a:ext cx="263042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connected end-to-end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3802166" y="4674195"/>
            <a:ext cx="1841255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D6EAE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~3min</a:t>
            </a:r>
            <a:endParaRPr lang="en-US" sz="3400" dirty="0"/>
          </a:p>
        </p:txBody>
      </p:sp>
      <p:sp>
        <p:nvSpPr>
          <p:cNvPr id="26" name="Text 18"/>
          <p:cNvSpPr/>
          <p:nvPr/>
        </p:nvSpPr>
        <p:spPr>
          <a:xfrm>
            <a:off x="3407533" y="5246390"/>
            <a:ext cx="263042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Full Run Time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3407583" y="5508625"/>
            <a:ext cx="263042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on demand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548274" y="4674195"/>
            <a:ext cx="1841255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D6EAE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</a:t>
            </a:r>
            <a:endParaRPr lang="en-US" sz="3400" dirty="0"/>
          </a:p>
        </p:txBody>
      </p:sp>
      <p:sp>
        <p:nvSpPr>
          <p:cNvPr id="29" name="Text 21"/>
          <p:cNvSpPr/>
          <p:nvPr/>
        </p:nvSpPr>
        <p:spPr>
          <a:xfrm>
            <a:off x="6153641" y="5246390"/>
            <a:ext cx="263042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Verified Fields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153691" y="5508625"/>
            <a:ext cx="263042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CRN, segment, postcode &amp; more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9294382" y="4674195"/>
            <a:ext cx="1841255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D6EAE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3400" dirty="0"/>
          </a:p>
        </p:txBody>
      </p:sp>
      <p:sp>
        <p:nvSpPr>
          <p:cNvPr id="32" name="Text 24"/>
          <p:cNvSpPr/>
          <p:nvPr/>
        </p:nvSpPr>
        <p:spPr>
          <a:xfrm>
            <a:off x="8899749" y="5246390"/>
            <a:ext cx="263042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Single Command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899798" y="5508625"/>
            <a:ext cx="263042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manual intervention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55115" y="5899605"/>
            <a:ext cx="1127989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ctr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Fully automated  •  </a:t>
            </a:r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⚙️</a:t>
            </a:r>
            <a:pPr algn="ctr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Dynamic &amp; configurable  •  </a:t>
            </a:r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🔁</a:t>
            </a:r>
            <a:pPr algn="ctr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Repeatable in ~3 minutes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61475" y="5792788"/>
            <a:ext cx="19050" cy="388342"/>
          </a:xfrm>
          <a:prstGeom prst="roundRect">
            <a:avLst>
              <a:gd name="adj" fmla="val 49999"/>
            </a:avLst>
          </a:prstGeom>
          <a:solidFill>
            <a:srgbClr val="AC9EF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017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Scenarios &amp; Business Value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2004913"/>
            <a:ext cx="1501539" cy="186630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2049066"/>
            <a:ext cx="98224" cy="982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429" y="2044962"/>
            <a:ext cx="181655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SCENARIOS AUTOMATED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81337"/>
            <a:ext cx="5284556" cy="7049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7803" y="2416870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End-to-end call routing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47803" y="2688630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reaches the longest-available caseworker, overflows to the next on no-answer.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66058"/>
            <a:ext cx="5284556" cy="7049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7803" y="3201591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Agent-to-agent warm transfer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47803" y="3473351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Caseworker answers, then transfers the call to a colleague.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50779"/>
            <a:ext cx="5284556" cy="7049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7803" y="3986312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API-to-Siebel data verification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47803" y="4258072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across every routing field.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6252014" y="2004913"/>
            <a:ext cx="1124616" cy="186630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5632" y="2049066"/>
            <a:ext cx="98224" cy="982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72969" y="2044962"/>
            <a:ext cx="1439628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750" dirty="0"/>
          </a:p>
        </p:txBody>
      </p:sp>
      <p:sp>
        <p:nvSpPr>
          <p:cNvPr id="18" name="Shape 11"/>
          <p:cNvSpPr/>
          <p:nvPr/>
        </p:nvSpPr>
        <p:spPr>
          <a:xfrm>
            <a:off x="6252014" y="2281337"/>
            <a:ext cx="2602343" cy="1289943"/>
          </a:xfrm>
          <a:prstGeom prst="roundRect">
            <a:avLst>
              <a:gd name="adj" fmla="val 1429"/>
            </a:avLst>
          </a:prstGeom>
          <a:solidFill>
            <a:srgbClr val="4C5052"/>
          </a:solidFill>
          <a:ln/>
        </p:spPr>
      </p:sp>
      <p:sp>
        <p:nvSpPr>
          <p:cNvPr id="19" name="Shape 12"/>
          <p:cNvSpPr/>
          <p:nvPr/>
        </p:nvSpPr>
        <p:spPr>
          <a:xfrm>
            <a:off x="6374844" y="2404170"/>
            <a:ext cx="368489" cy="36849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6143" y="2505472"/>
            <a:ext cx="165790" cy="1657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74844" y="2852440"/>
            <a:ext cx="235668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One-command run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374844" y="3124200"/>
            <a:ext cx="235668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slow, error-prone manual testing instantly.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8934127" y="2281337"/>
            <a:ext cx="2602443" cy="1289943"/>
          </a:xfrm>
          <a:prstGeom prst="roundRect">
            <a:avLst>
              <a:gd name="adj" fmla="val 1429"/>
            </a:avLst>
          </a:prstGeom>
          <a:solidFill>
            <a:srgbClr val="4C5052"/>
          </a:solidFill>
          <a:ln/>
        </p:spPr>
      </p:sp>
      <p:sp>
        <p:nvSpPr>
          <p:cNvPr id="24" name="Shape 16"/>
          <p:cNvSpPr/>
          <p:nvPr/>
        </p:nvSpPr>
        <p:spPr>
          <a:xfrm>
            <a:off x="9056957" y="2404170"/>
            <a:ext cx="368489" cy="36849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58257" y="2505472"/>
            <a:ext cx="165790" cy="16579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56957" y="2852440"/>
            <a:ext cx="235678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Fully dynamic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9056957" y="3124200"/>
            <a:ext cx="235678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phone, case, segment, or agent via simple config.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6252014" y="3651052"/>
            <a:ext cx="2602343" cy="1289943"/>
          </a:xfrm>
          <a:prstGeom prst="roundRect">
            <a:avLst>
              <a:gd name="adj" fmla="val 1429"/>
            </a:avLst>
          </a:prstGeom>
          <a:solidFill>
            <a:srgbClr val="4C5052"/>
          </a:solidFill>
          <a:ln/>
        </p:spPr>
      </p:sp>
      <p:sp>
        <p:nvSpPr>
          <p:cNvPr id="29" name="Shape 20"/>
          <p:cNvSpPr/>
          <p:nvPr/>
        </p:nvSpPr>
        <p:spPr>
          <a:xfrm>
            <a:off x="6374844" y="3773884"/>
            <a:ext cx="368489" cy="36849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6143" y="3875187"/>
            <a:ext cx="165790" cy="16579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374844" y="4222155"/>
            <a:ext cx="235668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Repeatable &amp; demo-ready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6374844" y="4493915"/>
            <a:ext cx="235668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against the live SIT environment.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8934127" y="3651052"/>
            <a:ext cx="2602443" cy="1289943"/>
          </a:xfrm>
          <a:prstGeom prst="roundRect">
            <a:avLst>
              <a:gd name="adj" fmla="val 1429"/>
            </a:avLst>
          </a:prstGeom>
          <a:solidFill>
            <a:srgbClr val="4C5052"/>
          </a:solidFill>
          <a:ln/>
        </p:spPr>
      </p:sp>
      <p:sp>
        <p:nvSpPr>
          <p:cNvPr id="34" name="Shape 24"/>
          <p:cNvSpPr/>
          <p:nvPr/>
        </p:nvSpPr>
        <p:spPr>
          <a:xfrm>
            <a:off x="9056957" y="3773884"/>
            <a:ext cx="368489" cy="368498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58257" y="3875187"/>
            <a:ext cx="165790" cy="16579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056957" y="4222155"/>
            <a:ext cx="235678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Scales effortlessly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9056957" y="4493915"/>
            <a:ext cx="235678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segments without any code changes.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661475" y="5151239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39" name="Text 28"/>
          <p:cNvSpPr/>
          <p:nvPr/>
        </p:nvSpPr>
        <p:spPr>
          <a:xfrm>
            <a:off x="356682" y="5288295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with: </a:t>
            </a:r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+ TypeScript  •  Oracle (Siebel)  •  NICE CXone API  •  Nectar RADAR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70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Solution Architecture — Automated Caseworker Call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58407"/>
            <a:ext cx="360928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Central Orchestrator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424186"/>
            <a:ext cx="3609289" cy="642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Playwright + TypeScript Test Orchestrator</a:t>
            </a:r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e2e-full</a:t>
            </a:r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command · Config-driven · No hardcoded data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test:e2e-full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6747" y="1162447"/>
            <a:ext cx="3439927" cy="11137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63075" y="1297980"/>
            <a:ext cx="31180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① Siebel (Oracle DB)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63075" y="1569740"/>
            <a:ext cx="3118070" cy="570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SQL via </a:t>
            </a:r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oracleDb</a:t>
            </a:r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clears &amp; maps test phone to case NRP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src/siebelDb.ts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6444" y="1162447"/>
            <a:ext cx="3440026" cy="11137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82772" y="1297980"/>
            <a:ext cx="31181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② Contact-Centre API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82772" y="1569740"/>
            <a:ext cx="3118169" cy="564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Cognito-secured REST — token + routing targets; response verified against Siebel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src/contactCentre.ts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6747" y="2355949"/>
            <a:ext cx="3439927" cy="11073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63075" y="2491482"/>
            <a:ext cx="31180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③ Agent Directory (Excel)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63075" y="2763242"/>
            <a:ext cx="3118070" cy="564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→ caseworkers + routing skill, read dynamically by header name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src/agentDirectory.ts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6444" y="2355949"/>
            <a:ext cx="3440026" cy="11073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82772" y="2491482"/>
            <a:ext cx="311816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④ Nectar RADAR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282772" y="2763242"/>
            <a:ext cx="3118169" cy="564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Portlet action places the real IVR voice call + keys DTMF tones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src/NectarRunner.ts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6747" y="3543102"/>
            <a:ext cx="3439927" cy="11073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63075" y="3678634"/>
            <a:ext cx="311807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⑤ NICE CXone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763075" y="3950395"/>
            <a:ext cx="3118070" cy="564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logged in via browser; routing, overflow &amp; warm transfer captured from live event stream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src/cxoneClient.ts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src/LiveAgent.ts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661475" y="4860727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661475" y="4993878"/>
            <a:ext cx="10868745" cy="1295202"/>
          </a:xfrm>
          <a:prstGeom prst="roundRect">
            <a:avLst>
              <a:gd name="adj" fmla="val 1423"/>
            </a:avLst>
          </a:prstGeom>
          <a:solidFill>
            <a:srgbClr val="4C5052"/>
          </a:solidFill>
          <a:ln/>
        </p:spPr>
      </p:sp>
      <p:sp>
        <p:nvSpPr>
          <p:cNvPr id="22" name="Shape 15"/>
          <p:cNvSpPr/>
          <p:nvPr/>
        </p:nvSpPr>
        <p:spPr>
          <a:xfrm>
            <a:off x="661475" y="4993878"/>
            <a:ext cx="5434373" cy="647601"/>
          </a:xfrm>
          <a:custGeom>
            <a:avLst/>
            <a:gdLst/>
            <a:ahLst/>
            <a:cxnLst/>
            <a:rect l="l" t="t" r="r" b="b"/>
            <a:pathLst>
              <a:path w="5434373" h="647601">
                <a:moveTo>
                  <a:pt x="15358" y="0"/>
                </a:moveTo>
                <a:lnTo>
                  <a:pt x="5434373" y="0"/>
                </a:lnTo>
                <a:lnTo>
                  <a:pt x="5434373" y="647601"/>
                </a:lnTo>
                <a:lnTo>
                  <a:pt x="0" y="647601"/>
                </a:lnTo>
                <a:lnTo>
                  <a:pt x="0" y="15358"/>
                </a:lnTo>
                <a:arcTo hR="15358" wR="15358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23" name="Text 16"/>
          <p:cNvSpPr/>
          <p:nvPr/>
        </p:nvSpPr>
        <p:spPr>
          <a:xfrm>
            <a:off x="784305" y="5116711"/>
            <a:ext cx="51887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🧩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Modular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84305" y="5356523"/>
            <a:ext cx="518871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system isolated in its own module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095848" y="4993878"/>
            <a:ext cx="5434373" cy="647601"/>
          </a:xfrm>
          <a:custGeom>
            <a:avLst/>
            <a:gdLst/>
            <a:ahLst/>
            <a:cxnLst/>
            <a:rect l="l" t="t" r="r" b="b"/>
            <a:pathLst>
              <a:path w="5434373" h="647601">
                <a:moveTo>
                  <a:pt x="0" y="0"/>
                </a:moveTo>
                <a:lnTo>
                  <a:pt x="5419015" y="0"/>
                </a:lnTo>
                <a:arcTo hR="15358" wR="15358" stAng="16200000" swAng="5400000"/>
                <a:lnTo>
                  <a:pt x="5434373" y="647601"/>
                </a:lnTo>
                <a:lnTo>
                  <a:pt x="0" y="647601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26" name="Shape 19"/>
          <p:cNvSpPr/>
          <p:nvPr/>
        </p:nvSpPr>
        <p:spPr>
          <a:xfrm>
            <a:off x="6095848" y="4993878"/>
            <a:ext cx="12700" cy="647601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7" name="Text 20"/>
          <p:cNvSpPr/>
          <p:nvPr/>
        </p:nvSpPr>
        <p:spPr>
          <a:xfrm>
            <a:off x="6218677" y="5116711"/>
            <a:ext cx="51887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Dynamic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218677" y="5356523"/>
            <a:ext cx="518871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phone, case, segment, or agent via config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61475" y="5641479"/>
            <a:ext cx="5434373" cy="647601"/>
          </a:xfrm>
          <a:custGeom>
            <a:avLst/>
            <a:gdLst/>
            <a:ahLst/>
            <a:cxnLst/>
            <a:rect l="l" t="t" r="r" b="b"/>
            <a:pathLst>
              <a:path w="5434373" h="647601">
                <a:moveTo>
                  <a:pt x="0" y="0"/>
                </a:moveTo>
                <a:lnTo>
                  <a:pt x="5434373" y="0"/>
                </a:lnTo>
                <a:lnTo>
                  <a:pt x="5434373" y="647601"/>
                </a:lnTo>
                <a:lnTo>
                  <a:pt x="15358" y="647601"/>
                </a:lnTo>
                <a:arcTo hR="15358" wR="15358" stAng="5400000" swAng="5400000"/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30" name="Shape 23"/>
          <p:cNvSpPr/>
          <p:nvPr/>
        </p:nvSpPr>
        <p:spPr>
          <a:xfrm>
            <a:off x="661475" y="5641479"/>
            <a:ext cx="5434373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31" name="Text 24"/>
          <p:cNvSpPr/>
          <p:nvPr/>
        </p:nvSpPr>
        <p:spPr>
          <a:xfrm>
            <a:off x="784305" y="5764312"/>
            <a:ext cx="51887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Secrets in .env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84305" y="6004123"/>
            <a:ext cx="518871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credentials in source code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095848" y="5641479"/>
            <a:ext cx="5434373" cy="647601"/>
          </a:xfrm>
          <a:custGeom>
            <a:avLst/>
            <a:gdLst/>
            <a:ahLst/>
            <a:cxnLst/>
            <a:rect l="l" t="t" r="r" b="b"/>
            <a:pathLst>
              <a:path w="5434373" h="647601">
                <a:moveTo>
                  <a:pt x="0" y="0"/>
                </a:moveTo>
                <a:lnTo>
                  <a:pt x="5434373" y="0"/>
                </a:lnTo>
                <a:lnTo>
                  <a:pt x="5434373" y="632243"/>
                </a:lnTo>
                <a:arcTo hR="15358" wR="15358" stAng="0" swAng="5400000"/>
                <a:lnTo>
                  <a:pt x="0" y="647601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34" name="Shape 27"/>
          <p:cNvSpPr/>
          <p:nvPr/>
        </p:nvSpPr>
        <p:spPr>
          <a:xfrm>
            <a:off x="6095848" y="5641479"/>
            <a:ext cx="12700" cy="647601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35" name="Shape 28"/>
          <p:cNvSpPr/>
          <p:nvPr/>
        </p:nvSpPr>
        <p:spPr>
          <a:xfrm>
            <a:off x="6095848" y="5641479"/>
            <a:ext cx="5434373" cy="1270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36" name="Text 29"/>
          <p:cNvSpPr/>
          <p:nvPr/>
        </p:nvSpPr>
        <p:spPr>
          <a:xfrm>
            <a:off x="6218677" y="5764312"/>
            <a:ext cx="51887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Repeatable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6218677" y="6004123"/>
            <a:ext cx="518871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against live SIT environment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2026-10-09T19:22:15Z</dcterms:created>
  <dcterms:modified xsi:type="dcterms:W3CDTF">2026-10-09T19:22:15Z</dcterms:modified>
</cp:coreProperties>
</file>